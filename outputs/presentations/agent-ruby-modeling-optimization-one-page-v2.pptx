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32d2ddee314e3f" /><Relationship Type="http://schemas.openxmlformats.org/officeDocument/2006/relationships/extended-properties" Target="/docProps/app.xml" Id="Rcc2413e603c5441f" /><Relationship Type="http://schemas.openxmlformats.org/officeDocument/2006/relationships/officeDocument" Target="/ppt/presentation.xml" Id="R2ee395b4eae44a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5fd83409ce40ce"/>
  </p:sldMasterIdLst>
  <p:notesMasterIdLst>
    <p:notesMasterId xmlns:r="http://schemas.openxmlformats.org/officeDocument/2006/relationships" r:id="Re1218e17315f46c6"/>
  </p:notesMasterIdLst>
  <p:sldIdLst>
    <p:sldId xmlns:r="http://schemas.openxmlformats.org/officeDocument/2006/relationships" id="256" r:id="R28f13052f1af4a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c5c6c2a0b04f71" /><Relationship Type="http://schemas.openxmlformats.org/officeDocument/2006/relationships/slideMaster" Target="/ppt/slideMasters/slideMaster1.xml" Id="R425fd83409ce40ce" /><Relationship Type="http://schemas.openxmlformats.org/officeDocument/2006/relationships/notesMaster" Target="/ppt/notesMasters/notesMaster1.xml" Id="Re1218e17315f46c6" /><Relationship Type="http://schemas.openxmlformats.org/officeDocument/2006/relationships/presProps" Target="/ppt/presProps.xml" Id="Rafd83f3277eb4a81" /><Relationship Type="http://schemas.openxmlformats.org/officeDocument/2006/relationships/tableStyles" Target="/ppt/tableStyles.xml" Id="Rd19ae90e778d425f" /><Relationship Type="http://schemas.openxmlformats.org/officeDocument/2006/relationships/slide" Target="/ppt/slides/slide1.xml" Id="R28f13052f1af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a50e59085348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d714f03f5a45c3" /><Relationship Type="http://schemas.openxmlformats.org/officeDocument/2006/relationships/notesMaster" Target="/ppt/notesMasters/notesMaster1.xml" Id="R5483a4b55d5647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 gem5-lab 当前非侵入式 Loop Agent 方案整理；视觉风格参考既有 OpenNPUX 架构与 Modeling 路线材料。所有流程节点均为可编辑 PowerPoint 原生形状。参考文件：/Users/libo/Work/gem5/ppt_out/opennpux-npu-pipe-roadmap.pptx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4429bfbd342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d88cfc4432418e" /><Relationship Type="http://schemas.openxmlformats.org/officeDocument/2006/relationships/slideLayout" Target="/ppt/slideLayouts/slideLayout1.xml" Id="Rb8581a0afc5143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581a0afc5143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92764fb884f91" /><Relationship Type="http://schemas.openxmlformats.org/officeDocument/2006/relationships/notesSlide" Target="/ppt/notesSlides/notesSlide1.xml" Id="R33e1b0054f4e41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0A2A8CF-E892-473F-B339-8DA5AFAA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Agent 自动化遍历 Ruby Modeling 性能优化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68E64-7615-47FE-9484-B0ADC53F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66750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F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34BDA-AD35-4674-8D19-4F39BEE1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固定硬件边界 → 自动生成候选配置 → GKB / lmbench 验证 → 学习迭代 → 收敛固化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2115A-E344-4AB4-83FE-E5B0D856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191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78B5FF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非侵入式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43F95-67C1-416E-A1DF-01BB484E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191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56D78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自动收敛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9930E-E5A3-4085-9F0D-10CAF685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04925"/>
            <a:ext cx="2552700" cy="4000500"/>
          </a:xfrm>
          <a:prstGeom xmlns:a="http://schemas.openxmlformats.org/drawingml/2006/main" prst="roundRect">
            <a:avLst>
              <a:gd name="adj" fmla="val 41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8B5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BE6DC-7F2F-4A53-8879-86459700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① 受控配置输入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5D6D1-B6AB-46DF-AB9D-5E4589BC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24DBB-6DB3-4C8E-8E73-E6573DCB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人工确认项与 Agent 搜索空间严格分离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687E1-5EBC-4FB8-AA6C-D7F0AB86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2171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11430">
            <a:solidFill>
              <a:srgbClr val="A9B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96E49-1C88-4628-B638-8242BCC3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704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CA2C0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rPr>
              <a:t>FIXED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4525F-51D5-4282-88F7-54212A2D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硬件 Modeling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FA1E5-CB98-4814-898A-8AC1EFD6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拓扑、协议、时钟、安全边界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58E90-14B1-4CCD-AC22-D271DEF3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2171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859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3B04B-E319-4A1F-8F7D-12485B78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859F4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59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59F4"/>
                </a:solidFill>
                <a:latin typeface="Arial Unicode MS"/>
                <a:ea typeface="Arial Unicode MS"/>
                <a:cs typeface="Arial Unicode MS"/>
              </a:rPr>
              <a:t>P-core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EAD81-3A6F-41B6-A7AB-BC054E3B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9087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性能核专属 Ruby 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8E5AE-AD6E-4EB3-AE5A-D854C638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171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00A5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D3936-7C4A-436C-B8D5-35AF03CD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542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E-core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BCE93-D328-4B6A-8CBB-F170A578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能效核专属 Ruby 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489923-FC63-44EA-B40B-871D33CC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2171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11430">
            <a:solidFill>
              <a:srgbClr val="FF65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45472-DB10-4258-99AD-DB869FDF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6500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rPr>
              <a:t>Shared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ADEA7-56A2-4009-AC69-3A045833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9577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L3 / SNF / Network 共享参数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8FF6B-72F7-48D5-85A0-94F6AB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71839E"/>
                </a:solidFill>
                <a:latin typeface="Arial Unicode MS"/>
                <a:ea typeface="Arial Unicode MS"/>
                <a:cs typeface="Arial Unicode MS"/>
              </a:rPr>
              <a:t>YAML：manual-confirmed / search-space /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E7DD3-EFF5-4BA9-9845-F82EE20C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04925"/>
            <a:ext cx="5772150" cy="4000500"/>
          </a:xfrm>
          <a:prstGeom xmlns:a="http://schemas.openxmlformats.org/drawingml/2006/main" prst="roundRect">
            <a:avLst>
              <a:gd name="adj" fmla="val 2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8B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9FB3F9-8708-4CB3-800C-A72EFC4A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38275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② Loop Agent 闭环优化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CE59A-6FF6-453C-84C8-F01A89AD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62125"/>
            <a:ext cx="539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6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A25FC-C629-4B59-9A51-772A580C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57325"/>
            <a:ext cx="704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78B5FF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GKB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EFEA8-3706-41B8-AE4D-43266355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57325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56D78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lmbench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765332-3268-491D-B596-B91E7D13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19275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同一流程适配单核 / 多核；按 core_scope 选择 P-core、E-core、Shared 或 Mixed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49B633-D5D3-4723-91F7-98ED0358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859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2182CB-F70F-4A96-9C1C-4FCAAA8A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9F4"/>
          </a:solidFill>
          <a:ln xmlns:a="http://schemas.openxmlformats.org/drawingml/2006/main" w="0">
            <a:solidFill>
              <a:srgbClr val="1859F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3B4A79-56A5-4D1A-8AD3-E50FED86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241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生成候选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4718E-895C-4115-B9C4-F48A9F2B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336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基于历史最优与禁区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批量采样 Ruby 配置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577C31-E9EE-442D-B13B-669FA5F6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F65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6329A-FF28-4232-8B6C-0E9FA717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00"/>
          </a:solidFill>
          <a:ln xmlns:a="http://schemas.openxmlformats.org/drawingml/2006/main" w="0">
            <a:solidFill>
              <a:srgbClr val="FF65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C537D4-991F-402E-803E-E7FAFA58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241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门禁检查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A72A14-2203-447A-8134-6E901F03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约束合法性 + Smoke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失败即记录并学习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AD4073-BE4E-4EFE-B384-5E2EB086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383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A5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004591-F99C-49E1-98C8-1391A826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542"/>
          </a:solidFill>
          <a:ln xmlns:a="http://schemas.openxmlformats.org/drawingml/2006/main" w="0">
            <a:solidFill>
              <a:srgbClr val="00A5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6FD8D1-CB0D-4B4E-B99E-0DFC2606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性能测试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3BFE49-E06A-437C-8A3C-C014C9A7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336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运行测试矩阵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采集性能与仿真成本</a:t>
            </a:r>
          </a:p>
        </p:txBody>
      </p:sp>
      <p:cxnSp>
        <p:nvCxnSpPr>
          <p:cNvPr id="133" name=""/>
          <p:cNvCxnSpPr>
            <a:stCxn xmlns:a="http://schemas.openxmlformats.org/drawingml/2006/main" id="30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81965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72465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F19E13-A7E1-4608-A3EB-2A76EB9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051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A54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A1DF17-EC98-4C8B-B58B-BF895DCA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542"/>
          </a:solidFill>
          <a:ln xmlns:a="http://schemas.openxmlformats.org/drawingml/2006/main" w="0">
            <a:solidFill>
              <a:srgbClr val="00A5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E0D902-65DF-425C-B96F-C503AF4B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指标解析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942401-E1BD-42AB-8149-0AC5C4D2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43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Score / HW 误差 /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稳定性 / 资源代价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643371-111D-4078-86C0-8E73FC81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051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859F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21B568-49E0-40D3-B6FF-3DB8F0D2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9F4"/>
          </a:solidFill>
          <a:ln xmlns:a="http://schemas.openxmlformats.org/drawingml/2006/main" w="0">
            <a:solidFill>
              <a:srgbClr val="1859F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CD7CCE-5164-4559-BE1B-73E2FC40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模型更新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45ED39-FE18-40E8-9ADA-84E57DF2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004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更新参数重要度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探索有效区、规避禁区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1DDD4A-328D-41BE-A083-40A34CC8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05175"/>
            <a:ext cx="15811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F65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375284-53F7-4258-9CFA-747E7960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00"/>
          </a:solidFill>
          <a:ln xmlns:a="http://schemas.openxmlformats.org/drawingml/2006/main" w="0">
            <a:solidFill>
              <a:srgbClr val="FF65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A6E307-9A12-45E6-B2F7-F19C255E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收敛判断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F08A19-7B15-4181-83AC-DCF73FE9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04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收益、预算、连续无改善</a:t>
            </a:r>
          </a:p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满足条件后自动停止</a:t>
            </a:r>
          </a:p>
        </p:txBody>
      </p:sp>
      <p:cxnSp>
        <p:nvCxnSpPr>
          <p:cNvPr id="147" name=""/>
          <p:cNvCxnSpPr>
            <a:stCxn xmlns:a="http://schemas.openxmlformats.org/drawingml/2006/main" id="44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5143500" y="3676650"/>
            <a:ext cx="3486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cxnSp>
        <p:nvCxnSpPr>
          <p:cNvPr id="148" name=""/>
          <p:cNvCxnSpPr>
            <a:stCxn xmlns:a="http://schemas.openxmlformats.org/drawingml/2006/main" id="48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H="1">
            <a:off x="3238500" y="3676650"/>
            <a:ext cx="3486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cxnSp>
        <p:nvCxnSpPr>
          <p:cNvPr id="149" name=""/>
          <p:cNvCxnSpPr>
            <a:stCxn xmlns:a="http://schemas.openxmlformats.org/drawingml/2006/main" id="38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7839075" y="29813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542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57DB9C-BFC9-46FC-8F05-06E7D96E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78B5FF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未收敛：下一轮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309ABC-B4E5-4A44-9B57-8ED622FE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71975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59F4"/>
            </a:solidFill>
            <a:prstDash val="dash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E3CDFF-84A3-4617-A548-8A13532C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38625"/>
            <a:ext cx="2038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56D78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已收敛：完整验证 + 重复测试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2C4C3C-F4DA-4E47-9B59-AAC95E09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767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输出：最终 Ruby 配置 + 最优参数组合 + 失败禁区 + 完整可追溯实验记录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7571879-2F52-430C-832B-9F5913FF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304925"/>
            <a:ext cx="2857500" cy="4000500"/>
          </a:xfrm>
          <a:prstGeom xmlns:a="http://schemas.openxmlformats.org/drawingml/2006/main" prst="roundRect">
            <a:avLst>
              <a:gd name="adj" fmla="val 3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8B5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C9DC6E-031C-48F9-B572-B9D02EE6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382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③ Dashboard 实时观测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164B538-3EA0-487C-B320-55665A6B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6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17F6CD-79F0-4981-9C14-5B1CDE41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47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6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Agent 只输出标准事件；服务统一校验、存储与展示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157449-2D06-48A7-A758-72C22474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47900"/>
            <a:ext cx="6858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11430">
            <a:solidFill>
              <a:srgbClr val="FF65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rPr>
              <a:t>JSON</a:t>
            </a:r>
          </a:p>
          <a:p xmlns:a="http://schemas.openxmlformats.org/drawingml/2006/main">
            <a:pPr algn="ctr">
              <a:def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6500"/>
                </a:solidFill>
                <a:latin typeface="Arial Unicode MS"/>
                <a:ea typeface="Arial Unicode MS"/>
                <a:cs typeface="Arial Unicode MS"/>
              </a:rPr>
              <a:t>事件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F6BBE3C-F945-4170-B353-E3231C71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47900"/>
            <a:ext cx="6858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859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SQLite</a:t>
            </a:r>
          </a:p>
          <a:p xmlns:a="http://schemas.openxmlformats.org/drawingml/2006/main">
            <a:pPr algn="ctr">
              <a:def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53FC3"/>
                </a:solidFill>
                <a:latin typeface="Arial Unicode MS"/>
                <a:ea typeface="Arial Unicode MS"/>
                <a:cs typeface="Arial Unicode MS"/>
              </a:rPr>
              <a:t>+ API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F3DFC55-7D35-4590-8113-1B9EF1AB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47900"/>
            <a:ext cx="7048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7F9ED"/>
          </a:solidFill>
          <a:ln xmlns:a="http://schemas.openxmlformats.org/drawingml/2006/main" w="11430">
            <a:solidFill>
              <a:srgbClr val="00A54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实时</a:t>
            </a:r>
          </a:p>
          <a:p xmlns:a="http://schemas.openxmlformats.org/drawingml/2006/main">
            <a:pPr algn="ctr">
              <a:def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A542"/>
                </a:solidFill>
                <a:latin typeface="Arial Unicode MS"/>
                <a:ea typeface="Arial Unicode MS"/>
                <a:cs typeface="Arial Unicode MS"/>
              </a:rPr>
              <a:t>Dashboard</a:t>
            </a:r>
          </a:p>
        </p:txBody>
      </p:sp>
      <p:cxnSp>
        <p:nvCxnSpPr>
          <p:cNvPr id="161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9867900" y="2509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cxnSp>
        <p:nvCxnSpPr>
          <p:cNvPr id="162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10753725" y="2509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59F4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953292-16C8-442C-9E78-1A850743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9F4"/>
          </a:solidFill>
          <a:ln xmlns:a="http://schemas.openxmlformats.org/drawingml/2006/main" w="0">
            <a:solidFill>
              <a:srgbClr val="1859F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270D14E-60EB-4E47-A537-08903F7D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当前阶段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8B24CF-6227-4465-BA7D-53A57AE8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990850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测试 / 学习 / 验证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6E2789-30E5-4509-AC79-84A5BDCC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62325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D502F9-CCD6-4517-A274-6CA6C3FB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95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542"/>
          </a:solidFill>
          <a:ln xmlns:a="http://schemas.openxmlformats.org/drawingml/2006/main" w="0">
            <a:solidFill>
              <a:srgbClr val="00A5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EBEEBE4-5D0F-4294-A695-628146C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19475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优化趋势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A80313-5415-4CEE-8D20-2F9BE6E5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419475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总体 + Case 梯度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1426DD7-715F-4118-90BB-DD15E598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9095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8C18E2-BAB9-4DB8-B6B1-C991A1F3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00"/>
          </a:solidFill>
          <a:ln xmlns:a="http://schemas.openxmlformats.org/drawingml/2006/main" w="0">
            <a:solidFill>
              <a:srgbClr val="FF65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BA7E85-DA99-4205-8F5B-828B1FD2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481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遍历覆盖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E48E800-CD00-469F-8E1C-9AB948AB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848100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2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P / E / Shared 参数域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FB583CF-BF7B-4777-801F-246B7D32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19575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8F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5751E8F-07F9-4583-B672-CC27028D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52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39E"/>
          </a:solidFill>
          <a:ln xmlns:a="http://schemas.openxmlformats.org/drawingml/2006/main" w="0">
            <a:solidFill>
              <a:srgbClr val="71839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707EA27-55A2-408C-8B88-42DFF85C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76725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8243A"/>
                </a:solidFill>
                <a:latin typeface="Arial Unicode MS"/>
                <a:ea typeface="Arial Unicode MS"/>
                <a:cs typeface="Arial Unicode MS"/>
              </a:rPr>
              <a:t>运行状态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246E5FF-40CA-40AD-B82C-68EF6627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276725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5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394962"/>
                </a:solidFill>
                <a:latin typeface="Arial Unicode MS"/>
                <a:ea typeface="Arial Unicode MS"/>
                <a:cs typeface="Arial Unicode MS"/>
              </a:rPr>
              <a:t>构建、Trial、失败原因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5C3BAD0-965E-4C71-B75F-493D7E3B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10125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53FC3"/>
          </a:solidFill>
          <a:ln xmlns:a="http://schemas.openxmlformats.org/drawingml/2006/main" w="11430">
            <a:solidFill>
              <a:srgbClr val="153FC3"/>
            </a:solidFill>
            <a:prstDash val="solid"/>
          </a:ln>
        </p:spPr>
        <p:txBody>
          <a:bodyPr xmlns:a="http://schemas.openxmlformats.org/drawingml/2006/main" anchor="ctr">
            <a:normAutofit fontScale="879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 Champion 配置可直接固化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C6009DF-22DC-4684-A2A7-CE092DB0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05450"/>
            <a:ext cx="11525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F49DF"/>
          </a:solidFill>
          <a:ln xmlns:a="http://schemas.openxmlformats.org/drawingml/2006/main" w="0">
            <a:solidFill>
              <a:srgbClr val="1F49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8B92C0B-4163-4228-8FA9-E2DC32E6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21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方案价值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376074-7403-4891-845E-356A7C49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19750"/>
            <a:ext cx="969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在不修改 gem5 主工程的前提下，把 Ruby 配置探索从“人工试参”升级为可约束、可追溯、会收敛的 Agent 自动优化闭环。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7ACEE36-2B11-408D-B4A1-96FB2BC8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01980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CE7FF"/>
                </a:solidFill>
                <a:latin typeface="Arial Unicode MS"/>
                <a:ea typeface="Arial Unicode MS"/>
                <a:cs typeface="Arial Unicode MS"/>
              </a:rPr>
              <a:t>D9300 P-core / E-core 独立建模 ｜ GKB / lmbench 统一接入 ｜ CI/CD 并行执行 ｜ Dashboard 实时呈现 ｜ 达到收敛条件自动停止</a:t>
            </a:r>
          </a:p>
        </p:txBody>
      </p:sp>
    </p:spTree>
    <p:extLst>
      <p:ext uri="{BB962C8B-B14F-4D97-AF65-F5344CB8AC3E}">
        <p14:creationId xmlns:p14="http://schemas.microsoft.com/office/powerpoint/2010/main" val="768484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2026-09-15T08:53:11.4740000Z</dcterms:created>
  <dcterms:modified xsi:type="dcterms:W3CDTF">2026-09-15T08:53:11.4740000Z</dcterms:modified>
</coreProperties>
</file>