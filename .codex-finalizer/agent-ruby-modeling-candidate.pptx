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5b874c1c7d4779" /><Relationship Type="http://schemas.openxmlformats.org/officeDocument/2006/relationships/extended-properties" Target="/docProps/app.xml" Id="R0b0bfa6ef99b4cf4" /><Relationship Type="http://schemas.openxmlformats.org/officeDocument/2006/relationships/officeDocument" Target="/ppt/presentation.xml" Id="R8bcf3efe597944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62408d609c495f"/>
  </p:sldMasterIdLst>
  <p:notesMasterIdLst>
    <p:notesMasterId xmlns:r="http://schemas.openxmlformats.org/officeDocument/2006/relationships" r:id="R71cf0e4ceebc4586"/>
  </p:notesMasterIdLst>
  <p:sldIdLst>
    <p:sldId xmlns:r="http://schemas.openxmlformats.org/officeDocument/2006/relationships" id="256" r:id="R04e6c4f7af1941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2f61aaf9e94b19" /><Relationship Type="http://schemas.openxmlformats.org/officeDocument/2006/relationships/slideMaster" Target="/ppt/slideMasters/slideMaster1.xml" Id="R8d62408d609c495f" /><Relationship Type="http://schemas.openxmlformats.org/officeDocument/2006/relationships/notesMaster" Target="/ppt/notesMasters/notesMaster1.xml" Id="R71cf0e4ceebc4586" /><Relationship Type="http://schemas.openxmlformats.org/officeDocument/2006/relationships/presProps" Target="/ppt/presProps.xml" Id="R0bd85c5456a84578" /><Relationship Type="http://schemas.openxmlformats.org/officeDocument/2006/relationships/tableStyles" Target="/ppt/tableStyles.xml" Id="Rfae66388f48e4e25" /><Relationship Type="http://schemas.openxmlformats.org/officeDocument/2006/relationships/slide" Target="/ppt/slides/slide1.xml" Id="R04e6c4f7af1941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1d5728124041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a6ca817954004" /><Relationship Type="http://schemas.openxmlformats.org/officeDocument/2006/relationships/notesMaster" Target="/ppt/notesMasters/notesMaster1.xml" Id="R88aa243e989246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 gem5-lab 当前非侵入式 Loop Agent 方案整理；视觉风格参考既有 OpenNPUX 架构与 Modeling 路线材料。所有流程节点均为可编辑 PowerPoint 原生形状。参考文件：/Users/libo/Work/gem5/ppt_out/opennpux-npu-pipe-roadmap.pptx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4556d56434a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44eb39d4b942e9" /><Relationship Type="http://schemas.openxmlformats.org/officeDocument/2006/relationships/slideLayout" Target="/ppt/slideLayouts/slideLayout1.xml" Id="Rbd4adb19278b4b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4adb19278b4b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9d45da0864889" /><Relationship Type="http://schemas.openxmlformats.org/officeDocument/2006/relationships/notesSlide" Target="/ppt/notesSlides/notesSlide1.xml" Id="Rafc764cb14154c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E668098-5700-4C51-9488-2FC3CC01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Agent 自动化遍历 Ruby Modeling 性能优化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6A16A-9DDB-43E3-B4C8-13F3E465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6675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F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9EDAA-1E1E-4F6B-B3EA-9AFA8779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固定硬件边界 → 自动生成候选配置 → GKB / lmbench 验证 → 学习迭代 → 收敛固化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DB4D7-BCDC-4EB5-BD2A-9E4920D9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191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78B5FF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非侵入式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EFCB4-2233-454D-A759-CF82EB5C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191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56D78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自动收敛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69D3F-AD8C-4E53-8F79-76B4A556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04925"/>
            <a:ext cx="2552700" cy="4000500"/>
          </a:xfrm>
          <a:prstGeom xmlns:a="http://schemas.openxmlformats.org/drawingml/2006/main" prst="roundRect">
            <a:avLst>
              <a:gd name="adj" fmla="val 41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8B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A800A-2007-4C47-A7B1-443BD44A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① 受控配置输入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C3DF8-BC3A-4B1D-B62D-175677C2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76079-F8F6-4F98-AA55-885E5316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人工确认项与 Agent 搜索空间严格分离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D94A9-6F6E-4DE1-AF39-48A0B646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2171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11430">
            <a:solidFill>
              <a:srgbClr val="A9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1260C-1B53-4E39-9352-E67C2C4C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A2C0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rPr>
              <a:t>FIXED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988DD-0A1E-467A-8F4F-28C83E1E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硬件 Modeling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8DFBD-B95F-4F2A-8EB2-29C4BCA8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拓扑、协议、时钟、安全边界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49F53-DDD7-4CFD-A42F-2FF4EFB2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217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859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B91D0-D858-45BA-8C58-D08F8C4B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859F4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59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59F4"/>
                </a:solidFill>
                <a:latin typeface="Arial Unicode MS"/>
                <a:ea typeface="Arial Unicode MS"/>
                <a:cs typeface="Arial Unicode MS"/>
              </a:rPr>
              <a:t>P-core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2433B-81F9-4D05-8E77-C50E00F5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908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性能核专属 Ruby 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BCCF1-DAE2-4FDD-93A2-0D8B076A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17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00A5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4E37B-DEC8-44FC-8A2F-41EC31A6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542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E-core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B6FCF-89D7-45FB-AB99-E0FC314A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能效核专属 Ruby 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25701-6C67-400E-86F0-BB2ED2AD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217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11430">
            <a:solidFill>
              <a:srgbClr val="FF65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AA912-C6B5-4A88-AC34-63C12D40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6500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rPr>
              <a:t>Shared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F0821-E757-4EF9-BB8B-E2E3F437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957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L3 / SNF / Network 共享参数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4E978-13F4-4A8C-AAB5-543054AF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rPr>
              <a:t>YAML：manual-confirmed / search-space /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18D76-3FDA-4D9D-BE8F-D63C4058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04925"/>
            <a:ext cx="5772150" cy="4000500"/>
          </a:xfrm>
          <a:prstGeom xmlns:a="http://schemas.openxmlformats.org/drawingml/2006/main" prst="roundRect">
            <a:avLst>
              <a:gd name="adj" fmla="val 2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8B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38C357-47F1-4928-9570-6F528BCC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38275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② Loop Agent 闭环优化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8CFA8-AA8E-4AB7-8334-EF5FB46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62125"/>
            <a:ext cx="539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6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F4B2B-6903-4994-A163-C445FB5E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57325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78B5FF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GKB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C14D5-A349-4987-974E-F6576089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57325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56D78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lmbench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CC2CD-AEA3-4EEA-8976-521AAA54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19275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同一流程适配单核 / 多核；按 core_scope 选择 P-core、E-core、Shared 或 Mixed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3A60EC-2364-4902-AAF4-232A31DF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59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990FB4-CBDF-4E77-A554-4DA03EF1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9F4"/>
          </a:solidFill>
          <a:ln xmlns:a="http://schemas.openxmlformats.org/drawingml/2006/main" w="0">
            <a:solidFill>
              <a:srgbClr val="1859F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71268C-3F83-48E2-A8CD-8F35E0BE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生成候选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53F98C-F103-49F0-98B2-339FCD27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3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基于历史最优与禁区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批量采样 Ruby 配置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7A46A7-CAF6-40C0-A030-95EF5CD4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65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4F16F4-F5EA-44CB-A53F-78C48D49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00"/>
          </a:solidFill>
          <a:ln xmlns:a="http://schemas.openxmlformats.org/drawingml/2006/main" w="0">
            <a:solidFill>
              <a:srgbClr val="FF65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5968C8-59AA-4428-8DBA-13177AF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241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门禁检查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F022B-A097-4A2D-8C79-1F0EBED0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约束合法性 + Smoke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失败即记录并学习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425A28-3586-4BCC-8DC5-D249A87C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A5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124BAD-D491-4FF4-BDD2-18D589D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542"/>
          </a:solidFill>
          <a:ln xmlns:a="http://schemas.openxmlformats.org/drawingml/2006/main" w="0">
            <a:solidFill>
              <a:srgbClr val="00A5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BDC305-9667-41F7-B585-70AE7D14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性能测试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0F8190-3FB1-47AA-9F07-7F4C0EC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33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运行测试矩阵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采集性能与仿真成本</a:t>
            </a:r>
          </a:p>
        </p:txBody>
      </p:sp>
      <p:cxnSp>
        <p:nvCxnSpPr>
          <p:cNvPr id="133" name=""/>
          <p:cNvCxnSpPr>
            <a:stCxn xmlns:a="http://schemas.openxmlformats.org/drawingml/2006/main" id="3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81965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72465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B1311D-8887-4ACE-8752-E284EB56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051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A54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BB7282-CD9D-4253-9F62-59981EF0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542"/>
          </a:solidFill>
          <a:ln xmlns:a="http://schemas.openxmlformats.org/drawingml/2006/main" w="0">
            <a:solidFill>
              <a:srgbClr val="00A5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165947-90CE-4588-A8C0-F047758E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指标解析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054FC9-5C43-4299-8716-50D274FC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43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Score / HW 误差 /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稳定性 / 资源代价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10087C-7BDC-44C8-BB36-59220C01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051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59F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B14D14-4221-49B4-9079-3730774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9F4"/>
          </a:solidFill>
          <a:ln xmlns:a="http://schemas.openxmlformats.org/drawingml/2006/main" w="0">
            <a:solidFill>
              <a:srgbClr val="1859F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53B6E0-C466-4D57-99D3-B46FF2B6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模型更新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C61E2A-5545-4066-874C-BCA746C2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004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更新参数重要度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探索有效区、规避禁区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818803-0010-44A9-A316-FBE58DCF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051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65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C7DC0F-0886-439F-A242-A75A564F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00"/>
          </a:solidFill>
          <a:ln xmlns:a="http://schemas.openxmlformats.org/drawingml/2006/main" w="0">
            <a:solidFill>
              <a:srgbClr val="FF65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31FC6D-9FC1-470E-A7EF-B23E16B6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收敛判断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DFA152-E875-43C4-8930-7A0059C1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收益、预算、连续无改善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满足条件后自动停止</a:t>
            </a:r>
          </a:p>
        </p:txBody>
      </p:sp>
      <p:cxnSp>
        <p:nvCxnSpPr>
          <p:cNvPr id="147" name=""/>
          <p:cNvCxnSpPr>
            <a:stCxn xmlns:a="http://schemas.openxmlformats.org/drawingml/2006/main" id="44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6724650" y="3676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cxnSp>
        <p:nvCxnSpPr>
          <p:cNvPr id="148" name=""/>
          <p:cNvCxnSpPr>
            <a:stCxn xmlns:a="http://schemas.openxmlformats.org/drawingml/2006/main" id="48" idx="1"/>
            <a:endCxn xmlns:a="http://schemas.openxmlformats.org/drawingml/2006/main" id="52" idx="3"/>
          </p:cNvCxnSpPr>
          <p:nvPr/>
        </p:nvCxnSpPr>
        <p:spPr>
          <a:xfrm xmlns:a="http://schemas.openxmlformats.org/drawingml/2006/main" flipH="1">
            <a:off x="4819650" y="3676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38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7839075" y="29813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542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ECD052-ED97-4D61-946D-CA5B5EFC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78B5FF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未收敛：下一轮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5E9A3F-5FBE-404A-BE82-F61A0B9C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71975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59F4"/>
            </a:solidFill>
            <a:prstDash val="dash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3880B3-0DF3-4940-8BB7-869BDBA2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38625"/>
            <a:ext cx="2038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56D78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已收敛：完整验证 + 重复测试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888181-5956-431C-A102-9C61FE68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767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输出：最终 Ruby 配置 + 最优参数组合 + 失败禁区 + 完整可追溯实验记录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2F0EF1-737E-4326-8449-B5BB81D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04925"/>
            <a:ext cx="2857500" cy="4000500"/>
          </a:xfrm>
          <a:prstGeom xmlns:a="http://schemas.openxmlformats.org/drawingml/2006/main" prst="roundRect">
            <a:avLst>
              <a:gd name="adj" fmla="val 3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8B5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84AACB-ED59-49BF-B0C4-B1B80D7A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382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③ Dashboard 实时观测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ADDDC6-92A2-44A4-AC7D-DFF51BA2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6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09E404-1558-44DE-B732-35DB740C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6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Agent 只输出标准事件；服务统一校验、存储与展示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9B6D3D-55BD-4C56-8896-8A2C4AED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6858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11430">
            <a:solidFill>
              <a:srgbClr val="FF65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rPr>
              <a:t>JSON</a:t>
            </a:r>
          </a:p>
          <a:p xmlns:a="http://schemas.openxmlformats.org/drawingml/2006/main">
            <a:pPr algn="ctr">
              <a:def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rPr>
              <a:t>事件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3EC5BD-53D9-4624-BCDE-B62C6CFB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47900"/>
            <a:ext cx="6858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859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SQLite</a:t>
            </a:r>
          </a:p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+ API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0DDED9-5EA6-423D-8DB5-E864EE35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47900"/>
            <a:ext cx="7048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00A54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实时</a:t>
            </a:r>
          </a:p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Dashboard</a:t>
            </a:r>
          </a:p>
        </p:txBody>
      </p:sp>
      <p:cxnSp>
        <p:nvCxnSpPr>
          <p:cNvPr id="161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9867900" y="2509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cxnSp>
        <p:nvCxnSpPr>
          <p:cNvPr id="162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10753725" y="2509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49D634-4C98-4A82-985D-B1E940B4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9F4"/>
          </a:solidFill>
          <a:ln xmlns:a="http://schemas.openxmlformats.org/drawingml/2006/main" w="0">
            <a:solidFill>
              <a:srgbClr val="1859F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8B66AF9-D2AA-408E-A726-AAC72657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当前阶段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F8F159-8FE6-4FAE-AC8F-5E5613B2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990850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测试 / 学习 / 验证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1ABD0D5-09B0-4470-A8E1-2EE4DA5A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62325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D7EBD8-F177-4ED1-8174-0C933DF2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95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542"/>
          </a:solidFill>
          <a:ln xmlns:a="http://schemas.openxmlformats.org/drawingml/2006/main" w="0">
            <a:solidFill>
              <a:srgbClr val="00A5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9DF2196-0761-4936-A37F-D326B1E7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19475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优化趋势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29A9E55-7B25-442F-B16F-0AB35367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419475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总体 + Case 梯度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FB08A7-FD55-4AC2-831B-08490E46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0D593A7-624A-4029-AC24-763DDF2C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00"/>
          </a:solidFill>
          <a:ln xmlns:a="http://schemas.openxmlformats.org/drawingml/2006/main" w="0">
            <a:solidFill>
              <a:srgbClr val="FF65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7A84620-69F3-41C2-AAA9-00233CF9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481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遍历覆盖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50A92F-3761-4FE7-995B-8E9070DD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848100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2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P / E / Shared 参数域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52D283C-3EE1-406B-8AF1-48815D0F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19575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059C32-7E4C-4ACB-AD70-CB1FC828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52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39E"/>
          </a:solidFill>
          <a:ln xmlns:a="http://schemas.openxmlformats.org/drawingml/2006/main" w="0">
            <a:solidFill>
              <a:srgbClr val="71839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45FA831-46A9-4913-A09A-6A305E4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76725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运行状态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CB7A4E4-1486-40C0-BB58-45DE50B4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276725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5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构建、Trial、失败原因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9B55FF8-53AF-4B07-AF84-BC842DAB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10125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3FC3"/>
          </a:solidFill>
          <a:ln xmlns:a="http://schemas.openxmlformats.org/drawingml/2006/main" w="11430">
            <a:solidFill>
              <a:srgbClr val="153FC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 Champion 配置可直接固化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FBFE50-6797-46FD-BA80-316243B8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05450"/>
            <a:ext cx="11525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F49DF"/>
          </a:solidFill>
          <a:ln xmlns:a="http://schemas.openxmlformats.org/drawingml/2006/main" w="0">
            <a:solidFill>
              <a:srgbClr val="1F49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107AF20-F359-4FAE-A0D8-A2DA77F3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21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方案价值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61A9CD1-2933-4126-BDB8-C269EDF6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19750"/>
            <a:ext cx="969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在不修改 gem5 主工程的前提下，把 Ruby 配置探索从“人工试参”升级为可约束、可追溯、会收敛的 Agent 自动优化闭环。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453A15F-F0E9-46EF-91DF-B98F9A5C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01980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CE7FF"/>
                </a:solidFill>
                <a:latin typeface="Arial Unicode MS"/>
                <a:ea typeface="Arial Unicode MS"/>
                <a:cs typeface="Arial Unicode MS"/>
              </a:rPr>
              <a:t>D9300 P-core / E-core 独立建模 ｜ GKB / lmbench 统一接入 ｜ CI/CD 并行执行 ｜ Dashboard 实时呈现 ｜ 达到收敛条件自动停止</a:t>
            </a:r>
          </a:p>
        </p:txBody>
      </p:sp>
    </p:spTree>
    <p:extLst>
      <p:ext uri="{BB962C8B-B14F-4D97-AF65-F5344CB8AC3E}">
        <p14:creationId xmlns:p14="http://schemas.microsoft.com/office/powerpoint/2010/main" val="951049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2026-09-15T08:54:40.1540000Z</dcterms:created>
  <dcterms:modified xsi:type="dcterms:W3CDTF">2026-09-15T08:54:40.1540000Z</dcterms:modified>
</coreProperties>
</file>